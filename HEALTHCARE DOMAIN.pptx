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8/12/2025</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sndAc>
          <p:stSnd>
            <p:snd r:embed="rId1" name="chimes.wav"/>
          </p:stSnd>
        </p:sndAc>
      </p:transition>
    </mc:Choice>
    <mc:Fallback xmlns="">
      <p:transition spd="slow">
        <p:fade/>
        <p:sndAc>
          <p:stSnd>
            <p:snd r:embed="rId4" name="chimes.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8/12/2025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sndAc>
          <p:stSnd>
            <p:snd r:embed="rId1" name="chimes.wav"/>
          </p:stSnd>
        </p:sndAc>
      </p:transition>
    </mc:Choice>
    <mc:Fallback xmlns="">
      <p:transition spd="slow">
        <p:fade/>
        <p:sndAc>
          <p:stSnd>
            <p:snd r:embed="rId3" name="chimes.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8/12/2025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sndAc>
          <p:stSnd>
            <p:snd r:embed="rId1" name="chimes.wav"/>
          </p:stSnd>
        </p:sndAc>
      </p:transition>
    </mc:Choice>
    <mc:Fallback xmlns="">
      <p:transition spd="slow">
        <p:fade/>
        <p:sndAc>
          <p:stSnd>
            <p:snd r:embed="rId4" name="chimes.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8/12/2025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sndAc>
          <p:stSnd>
            <p:snd r:embed="rId1" name="chimes.wav"/>
          </p:stSnd>
        </p:sndAc>
      </p:transition>
    </mc:Choice>
    <mc:Fallback xmlns="">
      <p:transition spd="slow">
        <p:fade/>
        <p:sndAc>
          <p:stSnd>
            <p:snd r:embed="rId3" name="chimes.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8/12/2025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sndAc>
          <p:stSnd>
            <p:snd r:embed="rId1" name="chimes.wav"/>
          </p:stSnd>
        </p:sndAc>
      </p:transition>
    </mc:Choice>
    <mc:Fallback xmlns="">
      <p:transition spd="slow">
        <p:fade/>
        <p:sndAc>
          <p:stSnd>
            <p:snd r:embed="rId3" name="chimes.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8/12/2025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sndAc>
          <p:stSnd>
            <p:snd r:embed="rId1" name="chimes.wav"/>
          </p:stSnd>
        </p:sndAc>
      </p:transition>
    </mc:Choice>
    <mc:Fallback xmlns="">
      <p:transition spd="slow">
        <p:fade/>
        <p:sndAc>
          <p:stSnd>
            <p:snd r:embed="rId3" name="chimes.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8/12/2025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sndAc>
          <p:stSnd>
            <p:snd r:embed="rId1" name="chimes.wav"/>
          </p:stSnd>
        </p:sndAc>
      </p:transition>
    </mc:Choice>
    <mc:Fallback xmlns="">
      <p:transition spd="slow">
        <p:fade/>
        <p:sndAc>
          <p:stSnd>
            <p:snd r:embed="rId3" name="chimes.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8/12/2025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sndAc>
          <p:stSnd>
            <p:snd r:embed="rId1" name="chimes.wav"/>
          </p:stSnd>
        </p:sndAc>
      </p:transition>
    </mc:Choice>
    <mc:Fallback xmlns="">
      <p:transition spd="slow">
        <p:fade/>
        <p:sndAc>
          <p:stSnd>
            <p:snd r:embed="rId4" name="chimes.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8/12/2025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sndAc>
          <p:stSnd>
            <p:snd r:embed="rId1" name="chimes.wav"/>
          </p:stSnd>
        </p:sndAc>
      </p:transition>
    </mc:Choice>
    <mc:Fallback xmlns="">
      <p:transition spd="slow">
        <p:fade/>
        <p:sndAc>
          <p:stSnd>
            <p:snd r:embed="rId4" name="chimes.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8/12/2025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sndAc>
          <p:stSnd>
            <p:snd r:embed="rId1" name="chimes.wav"/>
          </p:stSnd>
        </p:sndAc>
      </p:transition>
    </mc:Choice>
    <mc:Fallback xmlns="">
      <p:transition spd="slow">
        <p:fade/>
        <p:sndAc>
          <p:stSnd>
            <p:snd r:embed="rId4" name="chimes.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8/12/2025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sndAc>
          <p:stSnd>
            <p:snd r:embed="rId1" name="chimes.wav"/>
          </p:stSnd>
        </p:sndAc>
      </p:transition>
    </mc:Choice>
    <mc:Fallback xmlns="">
      <p:transition spd="slow">
        <p:fade/>
        <p:sndAc>
          <p:stSnd>
            <p:snd r:embed="rId4" name="chimes.wav"/>
          </p:stSnd>
        </p:sndAc>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8/12/2025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sndAc>
          <p:stSnd>
            <p:snd r:embed="rId1" name="chimes.wav"/>
          </p:stSnd>
        </p:sndAc>
      </p:transition>
    </mc:Choice>
    <mc:Fallback xmlns="">
      <p:transition spd="slow">
        <p:fade/>
        <p:sndAc>
          <p:stSnd>
            <p:snd r:embed="rId4" name="chimes.wav"/>
          </p:stSnd>
        </p:sndAc>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8/12/2025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sndAc>
          <p:stSnd>
            <p:snd r:embed="rId1" name="chimes.wav"/>
          </p:stSnd>
        </p:sndAc>
      </p:transition>
    </mc:Choice>
    <mc:Fallback xmlns="">
      <p:transition spd="slow">
        <p:fade/>
        <p:sndAc>
          <p:stSnd>
            <p:snd r:embed="rId4" name="chimes.wav"/>
          </p:stSnd>
        </p:sndAc>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8/12/2025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sndAc>
          <p:stSnd>
            <p:snd r:embed="rId1" name="chimes.wav"/>
          </p:stSnd>
        </p:sndAc>
      </p:transition>
    </mc:Choice>
    <mc:Fallback xmlns="">
      <p:transition spd="slow">
        <p:fade/>
        <p:sndAc>
          <p:stSnd>
            <p:snd r:embed="rId3" name="chimes.wav"/>
          </p:stSnd>
        </p:sndAc>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8/12/2025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sndAc>
          <p:stSnd>
            <p:snd r:embed="rId1" name="chimes.wav"/>
          </p:stSnd>
        </p:sndAc>
      </p:transition>
    </mc:Choice>
    <mc:Fallback xmlns="">
      <p:transition spd="slow">
        <p:fade/>
        <p:sndAc>
          <p:stSnd>
            <p:snd r:embed="rId3" name="chimes.wav"/>
          </p:stSnd>
        </p:sndAc>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8/12/2025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sndAc>
          <p:stSnd>
            <p:snd r:embed="rId1" name="chimes.wav"/>
          </p:stSnd>
        </p:sndAc>
      </p:transition>
    </mc:Choice>
    <mc:Fallback xmlns="">
      <p:transition spd="slow">
        <p:fade/>
        <p:sndAc>
          <p:stSnd>
            <p:snd r:embed="rId3" name="chimes.wav"/>
          </p:stSnd>
        </p:sndAc>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8/12/2025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p14:reveal/>
        <p:sndAc>
          <p:stSnd>
            <p:snd r:embed="rId1" name="chimes.wav"/>
          </p:stSnd>
        </p:sndAc>
      </p:transition>
    </mc:Choice>
    <mc:Fallback xmlns="">
      <p:transition spd="slow">
        <p:fade/>
        <p:sndAc>
          <p:stSnd>
            <p:snd r:embed="rId4" name="chimes.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audio" Target="../media/audio1.wav"/><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audio" Target="../media/audio1.wav"/><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20">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8/12/2025</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mc:AlternateContent xmlns:mc="http://schemas.openxmlformats.org/markup-compatibility/2006" xmlns:p14="http://schemas.microsoft.com/office/powerpoint/2010/main">
    <mc:Choice Requires="p14">
      <p:transition spd="slow" p14:dur="3400">
        <p14:reveal/>
        <p:sndAc>
          <p:stSnd>
            <p:snd r:embed="rId19" name="chimes.wav"/>
          </p:stSnd>
        </p:sndAc>
      </p:transition>
    </mc:Choice>
    <mc:Fallback xmlns="">
      <p:transition spd="slow">
        <p:fade/>
        <p:sndAc>
          <p:stSnd>
            <p:snd r:embed="rId21" name="chimes.wav"/>
          </p:stSnd>
        </p:sndAc>
      </p:transition>
    </mc:Fallback>
  </mc:AlternateConten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9258" y="1227056"/>
            <a:ext cx="8825658" cy="1028341"/>
          </a:xfrm>
        </p:spPr>
        <p:txBody>
          <a:bodyPr/>
          <a:lstStyle/>
          <a:p>
            <a:r>
              <a:rPr lang="en-US" b="1" dirty="0" smtClean="0">
                <a:latin typeface="Imprint MT Shadow" panose="04020605060303030202" pitchFamily="82" charset="0"/>
              </a:rPr>
              <a:t>HEALTHCARE DOMAIN</a:t>
            </a:r>
            <a:endParaRPr lang="en-IN" b="1" dirty="0">
              <a:latin typeface="Imprint MT Shadow" panose="04020605060303030202" pitchFamily="82" charset="0"/>
            </a:endParaRPr>
          </a:p>
        </p:txBody>
      </p:sp>
      <p:sp>
        <p:nvSpPr>
          <p:cNvPr id="3" name="Subtitle 2"/>
          <p:cNvSpPr>
            <a:spLocks noGrp="1"/>
          </p:cNvSpPr>
          <p:nvPr>
            <p:ph type="subTitle" idx="1"/>
          </p:nvPr>
        </p:nvSpPr>
        <p:spPr>
          <a:xfrm>
            <a:off x="4362996" y="3089497"/>
            <a:ext cx="6988628" cy="861420"/>
          </a:xfrm>
        </p:spPr>
        <p:txBody>
          <a:bodyPr>
            <a:normAutofit fontScale="92500" lnSpcReduction="20000"/>
          </a:bodyPr>
          <a:lstStyle/>
          <a:p>
            <a:r>
              <a:rPr lang="en-US" sz="2800" b="1" dirty="0" smtClean="0">
                <a:latin typeface="Imprint MT Shadow" panose="04020605060303030202" pitchFamily="82" charset="0"/>
              </a:rPr>
              <a:t>MASSACHUSETTS </a:t>
            </a:r>
            <a:r>
              <a:rPr lang="en-US" sz="2800" b="1" dirty="0">
                <a:latin typeface="Imprint MT Shadow" panose="04020605060303030202" pitchFamily="82" charset="0"/>
              </a:rPr>
              <a:t>GENERAL </a:t>
            </a:r>
            <a:r>
              <a:rPr lang="en-US" sz="2800" b="1" dirty="0" smtClean="0">
                <a:latin typeface="Imprint MT Shadow" panose="04020605060303030202" pitchFamily="82" charset="0"/>
              </a:rPr>
              <a:t>HOSPITAL</a:t>
            </a:r>
          </a:p>
          <a:p>
            <a:r>
              <a:rPr lang="en-US" sz="2800" b="1" dirty="0" smtClean="0">
                <a:latin typeface="Imprint MT Shadow" panose="04020605060303030202" pitchFamily="82" charset="0"/>
              </a:rPr>
              <a:t>						bOSton </a:t>
            </a:r>
            <a:endParaRPr lang="en-IN" sz="2800" b="1" dirty="0">
              <a:latin typeface="Imprint MT Shadow" panose="04020605060303030202" pitchFamily="82" charset="0"/>
            </a:endParaRPr>
          </a:p>
        </p:txBody>
      </p:sp>
      <p:sp>
        <p:nvSpPr>
          <p:cNvPr id="4" name="Subtitle 2"/>
          <p:cNvSpPr txBox="1">
            <a:spLocks/>
          </p:cNvSpPr>
          <p:nvPr/>
        </p:nvSpPr>
        <p:spPr bwMode="gray">
          <a:xfrm>
            <a:off x="2307773" y="3144887"/>
            <a:ext cx="6988628" cy="861420"/>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1800" b="0" i="0" kern="1200" cap="all">
                <a:solidFill>
                  <a:schemeClr val="accent1">
                    <a:lumMod val="60000"/>
                    <a:lumOff val="4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9pPr>
          </a:lstStyle>
          <a:p>
            <a:endParaRPr lang="en-US" sz="2800" b="1" dirty="0" smtClean="0">
              <a:latin typeface="Imprint MT Shadow" panose="04020605060303030202" pitchFamily="82" charset="0"/>
            </a:endParaRPr>
          </a:p>
        </p:txBody>
      </p:sp>
      <p:sp>
        <p:nvSpPr>
          <p:cNvPr id="6" name="Rectangle 5"/>
          <p:cNvSpPr/>
          <p:nvPr/>
        </p:nvSpPr>
        <p:spPr>
          <a:xfrm>
            <a:off x="1173729" y="4338934"/>
            <a:ext cx="4240263" cy="1323439"/>
          </a:xfrm>
          <a:prstGeom prst="rect">
            <a:avLst/>
          </a:prstGeom>
          <a:noFill/>
        </p:spPr>
        <p:txBody>
          <a:bodyPr wrap="none" lIns="91440" tIns="45720" rIns="91440" bIns="45720">
            <a:spAutoFit/>
          </a:bodyPr>
          <a:lstStyle/>
          <a:p>
            <a:pPr algn="ctr"/>
            <a:r>
              <a:rPr lang="en-US" sz="4000" b="1" smtClean="0">
                <a:ln w="10160">
                  <a:solidFill>
                    <a:schemeClr val="accent5"/>
                  </a:solidFill>
                  <a:prstDash val="solid"/>
                </a:ln>
                <a:solidFill>
                  <a:srgbClr val="FFFFFF"/>
                </a:solidFill>
                <a:effectLst>
                  <a:glow rad="228600">
                    <a:schemeClr val="accent6">
                      <a:satMod val="175000"/>
                      <a:alpha val="40000"/>
                    </a:schemeClr>
                  </a:glow>
                  <a:outerShdw blurRad="38100" dist="22860" dir="5400000" algn="tl" rotWithShape="0">
                    <a:srgbClr val="000000">
                      <a:alpha val="30000"/>
                    </a:srgbClr>
                  </a:outerShdw>
                </a:effectLst>
                <a:latin typeface="Imprint MT Shadow" panose="04020605060303030202" pitchFamily="82" charset="0"/>
              </a:rPr>
              <a:t>Hema Soodamani</a:t>
            </a:r>
            <a:r>
              <a:rPr lang="en-US" sz="4000" b="1" smtClean="0">
                <a:ln w="10160">
                  <a:solidFill>
                    <a:schemeClr val="accent5"/>
                  </a:solidFill>
                  <a:prstDash val="solid"/>
                </a:ln>
                <a:solidFill>
                  <a:srgbClr val="FFFFFF"/>
                </a:solidFill>
                <a:effectLst>
                  <a:glow rad="228600">
                    <a:schemeClr val="accent6">
                      <a:satMod val="175000"/>
                      <a:alpha val="40000"/>
                    </a:schemeClr>
                  </a:glow>
                  <a:outerShdw blurRad="38100" dist="22860" dir="5400000" algn="tl" rotWithShape="0">
                    <a:srgbClr val="000000">
                      <a:alpha val="30000"/>
                    </a:srgbClr>
                  </a:outerShdw>
                </a:effectLst>
                <a:latin typeface="Imprint MT Shadow" panose="04020605060303030202" pitchFamily="82" charset="0"/>
              </a:rPr>
              <a:t> </a:t>
            </a:r>
            <a:endParaRPr lang="en-US" sz="4000" b="1" dirty="0" smtClean="0">
              <a:ln w="10160">
                <a:solidFill>
                  <a:schemeClr val="accent5"/>
                </a:solidFill>
                <a:prstDash val="solid"/>
              </a:ln>
              <a:solidFill>
                <a:srgbClr val="FFFFFF"/>
              </a:solidFill>
              <a:effectLst>
                <a:glow rad="228600">
                  <a:schemeClr val="accent6">
                    <a:satMod val="175000"/>
                    <a:alpha val="40000"/>
                  </a:schemeClr>
                </a:glow>
                <a:outerShdw blurRad="38100" dist="22860" dir="5400000" algn="tl" rotWithShape="0">
                  <a:srgbClr val="000000">
                    <a:alpha val="30000"/>
                  </a:srgbClr>
                </a:outerShdw>
              </a:effectLst>
              <a:latin typeface="Imprint MT Shadow" panose="04020605060303030202" pitchFamily="82" charset="0"/>
            </a:endParaRPr>
          </a:p>
          <a:p>
            <a:pPr algn="ctr"/>
            <a:r>
              <a:rPr lang="en-US" sz="4000" b="1" smtClean="0">
                <a:ln w="10160">
                  <a:solidFill>
                    <a:schemeClr val="accent5"/>
                  </a:solidFill>
                  <a:prstDash val="solid"/>
                </a:ln>
                <a:solidFill>
                  <a:srgbClr val="FFFFFF"/>
                </a:solidFill>
                <a:effectLst>
                  <a:glow rad="228600">
                    <a:schemeClr val="accent6">
                      <a:satMod val="175000"/>
                      <a:alpha val="40000"/>
                    </a:schemeClr>
                  </a:glow>
                  <a:outerShdw blurRad="38100" dist="22860" dir="5400000" algn="tl" rotWithShape="0">
                    <a:srgbClr val="000000">
                      <a:alpha val="30000"/>
                    </a:srgbClr>
                  </a:outerShdw>
                </a:effectLst>
                <a:latin typeface="Imprint MT Shadow" panose="04020605060303030202" pitchFamily="82" charset="0"/>
              </a:rPr>
              <a:t>Date:12.7.2025</a:t>
            </a:r>
            <a:endParaRPr lang="en-US" sz="4000" b="1" dirty="0">
              <a:ln w="10160">
                <a:solidFill>
                  <a:schemeClr val="accent5"/>
                </a:solidFill>
                <a:prstDash val="solid"/>
              </a:ln>
              <a:solidFill>
                <a:srgbClr val="FFFFFF"/>
              </a:solidFill>
              <a:effectLst>
                <a:glow rad="228600">
                  <a:schemeClr val="accent6">
                    <a:satMod val="175000"/>
                    <a:alpha val="40000"/>
                  </a:schemeClr>
                </a:glow>
                <a:outerShdw blurRad="38100" dist="22860" dir="5400000" algn="tl" rotWithShape="0">
                  <a:srgbClr val="000000">
                    <a:alpha val="30000"/>
                  </a:srgbClr>
                </a:outerShdw>
              </a:effectLst>
              <a:latin typeface="Imprint MT Shadow" panose="04020605060303030202" pitchFamily="82" charset="0"/>
            </a:endParaRPr>
          </a:p>
        </p:txBody>
      </p:sp>
    </p:spTree>
    <p:extLst>
      <p:ext uri="{BB962C8B-B14F-4D97-AF65-F5344CB8AC3E}">
        <p14:creationId xmlns:p14="http://schemas.microsoft.com/office/powerpoint/2010/main" val="39019263"/>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2" name="chimes.wav"/>
          </p:stSnd>
        </p:sndAc>
      </p:transition>
    </mc:Choice>
    <mc:Fallback xmlns="">
      <p:transition spd="slow">
        <p:fade/>
        <p:sndAc>
          <p:stSnd>
            <p:snd r:embed="rId3" name="chimes.wav"/>
          </p:stSnd>
        </p:sndAc>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857" y="1042435"/>
            <a:ext cx="3710960" cy="706964"/>
          </a:xfrm>
        </p:spPr>
        <p:txBody>
          <a:bodyPr/>
          <a:lstStyle/>
          <a:p>
            <a:pPr algn="ctr"/>
            <a:r>
              <a:rPr lang="en-US" dirty="0" smtClean="0"/>
              <a:t>TABLE SCHEMA</a:t>
            </a:r>
            <a:endParaRPr lang="en-IN" dirty="0"/>
          </a:p>
        </p:txBody>
      </p:sp>
      <p:sp>
        <p:nvSpPr>
          <p:cNvPr id="53" name="Bevel 52"/>
          <p:cNvSpPr/>
          <p:nvPr/>
        </p:nvSpPr>
        <p:spPr>
          <a:xfrm>
            <a:off x="4929051" y="1955011"/>
            <a:ext cx="2586446" cy="2272937"/>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latin typeface="Imprint MT Shadow" panose="04020605060303030202" pitchFamily="82" charset="0"/>
              </a:rPr>
              <a:t>ORGANIZATION</a:t>
            </a:r>
            <a:endParaRPr lang="en-IN" sz="1600" b="1" dirty="0">
              <a:latin typeface="Imprint MT Shadow" panose="04020605060303030202" pitchFamily="82" charset="0"/>
            </a:endParaRPr>
          </a:p>
        </p:txBody>
      </p:sp>
      <p:sp>
        <p:nvSpPr>
          <p:cNvPr id="54" name="Bevel 53"/>
          <p:cNvSpPr/>
          <p:nvPr/>
        </p:nvSpPr>
        <p:spPr>
          <a:xfrm>
            <a:off x="6423660" y="4502327"/>
            <a:ext cx="2586446" cy="2272937"/>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Imprint MT Shadow" panose="04020605060303030202" pitchFamily="82" charset="0"/>
              </a:rPr>
              <a:t>PROCEDURES</a:t>
            </a:r>
            <a:endParaRPr lang="en-IN" b="1" dirty="0">
              <a:latin typeface="Imprint MT Shadow" panose="04020605060303030202" pitchFamily="82" charset="0"/>
            </a:endParaRPr>
          </a:p>
        </p:txBody>
      </p:sp>
      <p:sp>
        <p:nvSpPr>
          <p:cNvPr id="55" name="Bevel 54"/>
          <p:cNvSpPr/>
          <p:nvPr/>
        </p:nvSpPr>
        <p:spPr>
          <a:xfrm>
            <a:off x="9307286" y="4502326"/>
            <a:ext cx="2586446" cy="2272937"/>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Imprint MT Shadow" panose="04020605060303030202" pitchFamily="82" charset="0"/>
              </a:rPr>
              <a:t>PAYERS</a:t>
            </a:r>
            <a:endParaRPr lang="en-IN" b="1" dirty="0">
              <a:latin typeface="Imprint MT Shadow" panose="04020605060303030202" pitchFamily="82" charset="0"/>
            </a:endParaRPr>
          </a:p>
        </p:txBody>
      </p:sp>
      <p:sp>
        <p:nvSpPr>
          <p:cNvPr id="56" name="Bevel 55"/>
          <p:cNvSpPr/>
          <p:nvPr/>
        </p:nvSpPr>
        <p:spPr>
          <a:xfrm>
            <a:off x="656408" y="4502330"/>
            <a:ext cx="2586446" cy="2272937"/>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Imprint MT Shadow" panose="04020605060303030202" pitchFamily="82" charset="0"/>
              </a:rPr>
              <a:t>ENCOUNTERS</a:t>
            </a:r>
            <a:endParaRPr lang="en-IN" b="1" dirty="0">
              <a:latin typeface="Imprint MT Shadow" panose="04020605060303030202" pitchFamily="82" charset="0"/>
            </a:endParaRPr>
          </a:p>
        </p:txBody>
      </p:sp>
      <p:sp>
        <p:nvSpPr>
          <p:cNvPr id="57" name="Bevel 56"/>
          <p:cNvSpPr/>
          <p:nvPr/>
        </p:nvSpPr>
        <p:spPr>
          <a:xfrm>
            <a:off x="3540034" y="4502328"/>
            <a:ext cx="2586446" cy="2272937"/>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Imprint MT Shadow" panose="04020605060303030202" pitchFamily="82" charset="0"/>
              </a:rPr>
              <a:t>PATIENTS</a:t>
            </a:r>
            <a:endParaRPr lang="en-IN" b="1" dirty="0">
              <a:latin typeface="Imprint MT Shadow" panose="04020605060303030202" pitchFamily="82" charset="0"/>
            </a:endParaRPr>
          </a:p>
        </p:txBody>
      </p:sp>
      <p:cxnSp>
        <p:nvCxnSpPr>
          <p:cNvPr id="59" name="Straight Arrow Connector 58"/>
          <p:cNvCxnSpPr/>
          <p:nvPr/>
        </p:nvCxnSpPr>
        <p:spPr>
          <a:xfrm flipH="1">
            <a:off x="4833257" y="4227948"/>
            <a:ext cx="7024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Vertical Scroll 60"/>
          <p:cNvSpPr/>
          <p:nvPr/>
        </p:nvSpPr>
        <p:spPr>
          <a:xfrm>
            <a:off x="0" y="365760"/>
            <a:ext cx="4524102" cy="2547317"/>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This is the dataset structure which are related by primary and foreign keys to ensure analysis based on which organization the patient visited and what procedure was done in which encounter and what was the cost covered by payers</a:t>
            </a:r>
            <a:endParaRPr lang="en-IN" b="1" dirty="0"/>
          </a:p>
        </p:txBody>
      </p:sp>
    </p:spTree>
    <p:extLst>
      <p:ext uri="{BB962C8B-B14F-4D97-AF65-F5344CB8AC3E}">
        <p14:creationId xmlns:p14="http://schemas.microsoft.com/office/powerpoint/2010/main" val="636298941"/>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2" name="chimes.wav"/>
          </p:stSnd>
        </p:sndAc>
      </p:transition>
    </mc:Choice>
    <mc:Fallback xmlns="">
      <p:transition spd="slow">
        <p:fade/>
        <p:sndAc>
          <p:stSnd>
            <p:snd r:embed="rId3" name="chimes.wav"/>
          </p:stSnd>
        </p:sndAc>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7081" y="1078171"/>
            <a:ext cx="5703045" cy="706964"/>
          </a:xfrm>
        </p:spPr>
        <p:txBody>
          <a:bodyPr/>
          <a:lstStyle/>
          <a:p>
            <a:r>
              <a:rPr lang="en-US" sz="2000" b="1" dirty="0" smtClean="0">
                <a:latin typeface="Imprint MT Shadow" panose="04020605060303030202" pitchFamily="82" charset="0"/>
              </a:rPr>
              <a:t>PROJECT IMPLEMENTATION IN SQL</a:t>
            </a:r>
            <a:br>
              <a:rPr lang="en-US" sz="2000" b="1" dirty="0" smtClean="0">
                <a:latin typeface="Imprint MT Shadow" panose="04020605060303030202" pitchFamily="82" charset="0"/>
              </a:rPr>
            </a:br>
            <a:r>
              <a:rPr lang="en-US" sz="2000" b="1" dirty="0" smtClean="0">
                <a:latin typeface="Imprint MT Shadow" panose="04020605060303030202" pitchFamily="82" charset="0"/>
              </a:rPr>
              <a:t>VISUALIZATION REPORT IN TABLEAU </a:t>
            </a:r>
            <a:endParaRPr lang="en-IN" sz="2000" b="1" dirty="0">
              <a:latin typeface="Imprint MT Shadow" panose="04020605060303030202" pitchFamily="82" charset="0"/>
            </a:endParaRPr>
          </a:p>
        </p:txBody>
      </p:sp>
      <p:sp>
        <p:nvSpPr>
          <p:cNvPr id="4" name="Vertical Scroll 3"/>
          <p:cNvSpPr/>
          <p:nvPr/>
        </p:nvSpPr>
        <p:spPr>
          <a:xfrm>
            <a:off x="143692" y="2939142"/>
            <a:ext cx="11795760" cy="3030584"/>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 </a:t>
            </a:r>
            <a:r>
              <a:rPr lang="en-US" b="1" dirty="0" smtClean="0"/>
              <a:t>This project aims to provide a comprehensive analysis of patient encounters, procedure costs, and payer coverage to uncover patterns of high-cost healthcare utilization and potential financial risks.</a:t>
            </a:r>
            <a:r>
              <a:rPr lang="en-US" dirty="0"/>
              <a:t> </a:t>
            </a:r>
            <a:r>
              <a:rPr lang="en-US" b="1" dirty="0"/>
              <a:t>The objective is to support informed decision-making for resource allocation, patient care management, and financial planning</a:t>
            </a:r>
            <a:endParaRPr lang="en-IN" b="1" dirty="0"/>
          </a:p>
        </p:txBody>
      </p:sp>
    </p:spTree>
    <p:extLst>
      <p:ext uri="{BB962C8B-B14F-4D97-AF65-F5344CB8AC3E}">
        <p14:creationId xmlns:p14="http://schemas.microsoft.com/office/powerpoint/2010/main" val="562880091"/>
      </p:ext>
    </p:extLst>
  </p:cSld>
  <p:clrMapOvr>
    <a:masterClrMapping/>
  </p:clrMapOvr>
  <mc:AlternateContent xmlns:mc="http://schemas.openxmlformats.org/markup-compatibility/2006" xmlns:p14="http://schemas.microsoft.com/office/powerpoint/2010/main">
    <mc:Choice Requires="p14">
      <p:transition spd="slow" p14:dur="3400">
        <p14:reveal/>
        <p:sndAc>
          <p:stSnd>
            <p:snd r:embed="rId2" name="chimes.wav"/>
          </p:stSnd>
        </p:sndAc>
      </p:transition>
    </mc:Choice>
    <mc:Fallback xmlns="">
      <p:transition spd="slow">
        <p:fade/>
        <p:sndAc>
          <p:stSnd>
            <p:snd r:embed="rId3" name="chimes.wav"/>
          </p:stSnd>
        </p:sndAc>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195</TotalTime>
  <Words>58</Words>
  <Application>Microsoft Office PowerPoint</Application>
  <PresentationFormat>Widescreen</PresentationFormat>
  <Paragraphs>14</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Century Gothic</vt:lpstr>
      <vt:lpstr>Imprint MT Shadow</vt:lpstr>
      <vt:lpstr>Wingdings 3</vt:lpstr>
      <vt:lpstr>Ion Boardroom</vt:lpstr>
      <vt:lpstr>HEALTHCARE DOMAIN</vt:lpstr>
      <vt:lpstr>TABLE SCHEMA</vt:lpstr>
      <vt:lpstr>PROJECT IMPLEMENTATION IN SQL VISUALIZATION REPORT IN TABLEAU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DOMAIN</dc:title>
  <dc:creator>Microsoft account</dc:creator>
  <cp:lastModifiedBy>Microsoft account</cp:lastModifiedBy>
  <cp:revision>28</cp:revision>
  <dcterms:created xsi:type="dcterms:W3CDTF">2025-07-11T04:47:55Z</dcterms:created>
  <dcterms:modified xsi:type="dcterms:W3CDTF">2025-08-12T13:13:30Z</dcterms:modified>
</cp:coreProperties>
</file>